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463040"/>
            <a:ext cx="9994392" cy="38404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9079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86A2E"/>
                </a:solidFill>
              </a:rPr>
              <a:t>PREHISTORIC GIANTS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0"/>
            <a:ext cx="9079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The 5 Most Famous Dinosaurs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429000"/>
            <a:ext cx="9079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8B8D0"/>
                </a:solidFill>
              </a:rPr>
              <a:t>Explore their characteristics, habitats, and secrets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B8D0"/>
                </a:solidFill>
              </a:rPr>
              <a:t>T-Rex · Triceratops · Velociraptor · Brachiosaurus · Stegosaurus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B8D0"/>
                </a:solidFill>
              </a:rPr>
              <a:t>Jurassic &amp; Cretaceous Periods  •  Millions of Years of Dominance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105156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6A2E"/>
                </a:solidFill>
              </a:rPr>
              <a:t>TYRANNOSAURUS REX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8D0"/>
                </a:solidFill>
              </a:rPr>
              <a:t>Late Cretaceous  •  68–66 million years ago</a:t>
            </a:r>
          </a:p>
        </p:txBody>
      </p:sp>
      <p:pic>
        <p:nvPicPr>
          <p:cNvPr id="6" name="Picture 5" descr="tre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0292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4709160"/>
            <a:ext cx="5029200" cy="54864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2E"/>
                </a:solidFill>
              </a:rPr>
              <a:t>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12–13 m (40 ft)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3624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2E"/>
                </a:solidFill>
              </a:rPr>
              <a:t>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8–14 tonnes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2344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2E"/>
                </a:solidFill>
              </a:rPr>
              <a:t>DIET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Carnivore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5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2E"/>
                </a:solidFill>
              </a:rPr>
              <a:t>FOUND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North America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0972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2E"/>
                </a:solidFill>
              </a:rPr>
              <a:t>KEY FACTS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463040"/>
            <a:ext cx="6217920" cy="457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20" y="1600200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32120" y="1600200"/>
            <a:ext cx="64008" cy="86868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5272" y="1764792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A2E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1691640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One of the largest land predators ever to walk the Earth.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2587752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2120" y="2587752"/>
            <a:ext cx="64008" cy="86868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5272" y="275234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A2E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2679192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Tiny arms but a skull over 1.5 m long packed with 60 serrated teeth.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3575304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3575304"/>
            <a:ext cx="64008" cy="86868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3739896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A2E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3666744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Could bite with ~57,000 N of force — the strongest of any land animal.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4562856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32120" y="4562856"/>
            <a:ext cx="64008" cy="86868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2" y="47274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A2E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4654296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Likely had excellent binocular vision and a keen sense of smell.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5550408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32120" y="5550408"/>
            <a:ext cx="64008" cy="86868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2" y="57150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A2E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5641848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Recent evidence suggests it may have been partially feathered.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B8D0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105156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EA67A"/>
                </a:solidFill>
              </a:rPr>
              <a:t>TRICERATOPS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8D0"/>
                </a:solidFill>
              </a:rPr>
              <a:t>Late Cretaceous  •  68–66 million years ago</a:t>
            </a:r>
          </a:p>
        </p:txBody>
      </p:sp>
      <p:pic>
        <p:nvPicPr>
          <p:cNvPr id="6" name="Picture 5" descr="tricerato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0292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4709160"/>
            <a:ext cx="5029200" cy="54864"/>
          </a:xfrm>
          <a:prstGeom prst="rect">
            <a:avLst/>
          </a:prstGeom>
          <a:solidFill>
            <a:srgbClr val="2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A67A"/>
                </a:solidFill>
              </a:rPr>
              <a:t>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8–9 m (29 ft)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3624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A67A"/>
                </a:solidFill>
              </a:rPr>
              <a:t>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6–12 tonnes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2344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A67A"/>
                </a:solidFill>
              </a:rPr>
              <a:t>DIET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Herbivore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5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A67A"/>
                </a:solidFill>
              </a:rPr>
              <a:t>FOUND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North America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0972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A67A"/>
                </a:solidFill>
              </a:rPr>
              <a:t>KEY FACTS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463040"/>
            <a:ext cx="6217920" cy="45720"/>
          </a:xfrm>
          <a:prstGeom prst="rect">
            <a:avLst/>
          </a:prstGeom>
          <a:solidFill>
            <a:srgbClr val="2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20" y="1600200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32120" y="1600200"/>
            <a:ext cx="64008" cy="868680"/>
          </a:xfrm>
          <a:prstGeom prst="rect">
            <a:avLst/>
          </a:prstGeom>
          <a:solidFill>
            <a:srgbClr val="2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5272" y="1764792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A67A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1691640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Three-horned face: two brow horns up to 1 m long and a short nose horn.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2587752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2120" y="2587752"/>
            <a:ext cx="64008" cy="868680"/>
          </a:xfrm>
          <a:prstGeom prst="rect">
            <a:avLst/>
          </a:prstGeom>
          <a:solidFill>
            <a:srgbClr val="2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5272" y="275234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A67A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2679192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The large bony frill at the back of the skull may have been used for display.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3575304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3575304"/>
            <a:ext cx="64008" cy="868680"/>
          </a:xfrm>
          <a:prstGeom prst="rect">
            <a:avLst/>
          </a:prstGeom>
          <a:solidFill>
            <a:srgbClr val="2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3739896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A67A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3666744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One of the last non-avian dinosaurs before the mass extinction event.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4562856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32120" y="4562856"/>
            <a:ext cx="64008" cy="868680"/>
          </a:xfrm>
          <a:prstGeom prst="rect">
            <a:avLst/>
          </a:prstGeom>
          <a:solidFill>
            <a:srgbClr val="2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2" y="47274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A67A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4654296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Grazed on low-lying vegetation using a powerful parrot-like beak.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5550408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32120" y="5550408"/>
            <a:ext cx="64008" cy="868680"/>
          </a:xfrm>
          <a:prstGeom prst="rect">
            <a:avLst/>
          </a:prstGeom>
          <a:solidFill>
            <a:srgbClr val="2EA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2" y="57150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A67A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5641848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Often depicted locked in combat with T-Rex — both lived at the same time.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B8D0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105156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0392B"/>
                </a:solidFill>
              </a:rPr>
              <a:t>VELOCIRAPTOR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8D0"/>
                </a:solidFill>
              </a:rPr>
              <a:t>Late Cretaceous  •  75–71 million years ago</a:t>
            </a:r>
          </a:p>
        </p:txBody>
      </p:sp>
      <p:pic>
        <p:nvPicPr>
          <p:cNvPr id="6" name="Picture 5" descr="velocirap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0292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4709160"/>
            <a:ext cx="5029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1.8–2.0 m (6 ft)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3624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15–20 kg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2344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DIET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Carnivore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5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FOUND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Mongolia / China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0972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KEY FACTS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463040"/>
            <a:ext cx="62179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20" y="1600200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32120" y="1600200"/>
            <a:ext cx="6400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5272" y="1764792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1691640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Much smaller than depicted in Jurassic Park — closer to a large turkey.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2587752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2120" y="2587752"/>
            <a:ext cx="6400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5272" y="275234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2679192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Covered in feathers; closely related to modern birds.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3575304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3575304"/>
            <a:ext cx="6400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3739896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3666744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Sickle-shaped retractable claw on each foot used to pin prey.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4562856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32120" y="4562856"/>
            <a:ext cx="6400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2" y="47274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4654296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Hunted alone rather than in packs, based on fossil evidence.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5550408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32120" y="5550408"/>
            <a:ext cx="6400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2" y="57150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5641848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Had a relatively large brain, suggesting high intelligence for a dinosaur.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B8D0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105156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76FBF"/>
                </a:solidFill>
              </a:rPr>
              <a:t>BRACHIOSAURUS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8D0"/>
                </a:solidFill>
              </a:rPr>
              <a:t>Late Jurassic  •  154–153 million years ago</a:t>
            </a:r>
          </a:p>
        </p:txBody>
      </p:sp>
      <p:pic>
        <p:nvPicPr>
          <p:cNvPr id="6" name="Picture 5" descr="brachiosaur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0292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4709160"/>
            <a:ext cx="5029200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FBF"/>
                </a:solidFill>
              </a:rPr>
              <a:t>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20–26 m (85 ft)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3624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FBF"/>
                </a:solidFill>
              </a:rPr>
              <a:t>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28–62 tonnes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2344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FBF"/>
                </a:solidFill>
              </a:rPr>
              <a:t>DIET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Herbivore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5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FBF"/>
                </a:solidFill>
              </a:rPr>
              <a:t>FOUND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North America / Africa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0972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FBF"/>
                </a:solidFill>
              </a:rPr>
              <a:t>KEY FACTS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463040"/>
            <a:ext cx="6217920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20" y="1600200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32120" y="1600200"/>
            <a:ext cx="64008" cy="8686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5272" y="1764792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6FB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1691640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One of the tallest dinosaurs — could reach 13 m high (4-storey building).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2587752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2120" y="2587752"/>
            <a:ext cx="64008" cy="8686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5272" y="275234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6FB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2679192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Front legs longer than hind legs, giving it a giraffe-like stance.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3575304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3575304"/>
            <a:ext cx="64008" cy="8686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3739896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6FB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3666744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Consumed up to 400 kg of vegetation per day to fuel its massive body.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4562856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32120" y="4562856"/>
            <a:ext cx="64008" cy="8686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2" y="47274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6FB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4654296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Nostrils positioned on top of the skull, once thought to help it breathe underwater.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5550408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32120" y="5550408"/>
            <a:ext cx="64008" cy="8686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2" y="57150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6FB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5641848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The neck alone was estimated at 9 m long with 13 elongated vertebrae.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B8D0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1792" cy="105156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8E44AD"/>
                </a:solidFill>
              </a:rPr>
              <a:t>STEGOSAURUS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8D0"/>
                </a:solidFill>
              </a:rPr>
              <a:t>Late Jurassic  •  155–150 million years ago</a:t>
            </a:r>
          </a:p>
        </p:txBody>
      </p:sp>
      <p:pic>
        <p:nvPicPr>
          <p:cNvPr id="6" name="Picture 5" descr="stegosaur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02920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4709160"/>
            <a:ext cx="50292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44AD"/>
                </a:solidFill>
              </a:rPr>
              <a:t>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6–9 m (30 ft)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3624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44AD"/>
                </a:solidFill>
              </a:rPr>
              <a:t>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2.3–7 tonnes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2344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44AD"/>
                </a:solidFill>
              </a:rPr>
              <a:t>DIET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Herbivore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5" y="4773168"/>
            <a:ext cx="1207008" cy="160020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482803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44AD"/>
                </a:solidFill>
              </a:rPr>
              <a:t>FOUND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5120640"/>
            <a:ext cx="1078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North America / Europe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0972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</a:rPr>
              <a:t>KEY FACTS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463040"/>
            <a:ext cx="621792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20" y="1600200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32120" y="1600200"/>
            <a:ext cx="64008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5272" y="1764792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1691640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Famous for the two rows of large bony plates running along its back.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2587752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2120" y="2587752"/>
            <a:ext cx="64008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5272" y="275234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2679192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The tail ended in four sharp spikes (thagomizer) used for self-defense.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3575304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3575304"/>
            <a:ext cx="64008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3739896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3666744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Had a brain the size of a walnut — one of the smallest brain-to-body ratios.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4562856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32120" y="4562856"/>
            <a:ext cx="64008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2" y="47274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4654296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Plates may have regulated body temperature or served as display structures.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5550408"/>
            <a:ext cx="6217920" cy="8686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32120" y="5550408"/>
            <a:ext cx="64008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2" y="57150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5641848"/>
            <a:ext cx="5715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8D0"/>
                </a:solidFill>
              </a:rPr>
              <a:t>Coexisted with Brachiosaurus and Allosaurus in the Morrison Formation.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B8D0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